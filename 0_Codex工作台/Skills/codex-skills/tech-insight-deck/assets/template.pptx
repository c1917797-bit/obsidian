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83" r:id="rId5"/>
    <p:sldId id="284" r:id="rId6"/>
    <p:sldId id="285" r:id="rId7"/>
    <p:sldId id="281" r:id="rId8"/>
    <p:sldId id="280" r:id="rId9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/>
        </p14:section>
        <p14:section name="章节页" id="{FD05EE94-C931-8C4B-83A2-004B32AA1207}">
          <p14:sldIdLst>
            <p14:sldId id="284"/>
            <p14:sldId id="285"/>
            <p14:sldId id="281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5B5B5"/>
    <a:srgbClr val="C8102E"/>
    <a:srgbClr val="78000F"/>
    <a:srgbClr val="231815"/>
    <a:srgbClr val="595757"/>
    <a:srgbClr val="151515"/>
    <a:srgbClr val="C7000B"/>
    <a:srgbClr val="57575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>
        <p:scale>
          <a:sx n="75" d="100"/>
          <a:sy n="75" d="100"/>
        </p:scale>
        <p:origin x="978" y="507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8456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arxiv.org/abs/2506.24045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err="1"/>
              <a:t>xxxx</a:t>
            </a:r>
            <a:r>
              <a:rPr lang="zh-CN" altLang="en-US" dirty="0"/>
              <a:t>技术洞察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F3DB8AC-5DE9-5548-8697-C9055F7FFC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部门：</a:t>
            </a:r>
            <a:endParaRPr lang="en-US" altLang="zh-CN" dirty="0"/>
          </a:p>
          <a:p>
            <a:r>
              <a:rPr lang="zh-CN" altLang="en-US" dirty="0"/>
              <a:t>作者：</a:t>
            </a:r>
            <a:endParaRPr lang="en-US" altLang="zh-CN" dirty="0"/>
          </a:p>
          <a:p>
            <a:r>
              <a:rPr lang="zh-CN" altLang="en-US" dirty="0"/>
              <a:t>日期：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9B9EA-773D-FD4C-8380-847E27C61BE5}"/>
              </a:ext>
            </a:extLst>
          </p:cNvPr>
          <p:cNvSpPr txBox="1">
            <a:spLocks/>
          </p:cNvSpPr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40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7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718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957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196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43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675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913" algn="l" defTabSz="9144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32952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6F2FFA79-6F97-B577-0081-F82AE3EC5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1561" y="1307034"/>
            <a:ext cx="10740640" cy="502716"/>
          </a:xfrm>
        </p:spPr>
        <p:txBody>
          <a:bodyPr>
            <a:normAutofit/>
          </a:bodyPr>
          <a:lstStyle/>
          <a:p>
            <a:pPr algn="ctr"/>
            <a:r>
              <a:rPr lang="zh-CN" altLang="en-US" sz="1800" b="1" dirty="0"/>
              <a:t>本次洞察主要围绕</a:t>
            </a:r>
            <a:r>
              <a:rPr lang="en-US" altLang="zh-CN" sz="1800" b="1" dirty="0"/>
              <a:t>xxx</a:t>
            </a:r>
            <a:r>
              <a:rPr lang="zh-CN" altLang="en-US" sz="1800" b="1" dirty="0"/>
              <a:t>，针对如下几个方向展开洞察：</a:t>
            </a: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D42E36AF-E4EE-9BB8-684C-A8870ED83100}"/>
              </a:ext>
            </a:extLst>
          </p:cNvPr>
          <p:cNvSpPr txBox="1">
            <a:spLocks/>
          </p:cNvSpPr>
          <p:nvPr/>
        </p:nvSpPr>
        <p:spPr>
          <a:xfrm>
            <a:off x="2158999" y="2418284"/>
            <a:ext cx="7988301" cy="23315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AutoNum type="arabicPeriod"/>
            </a:pPr>
            <a:r>
              <a:rPr lang="zh-CN" altLang="en-US" sz="1400" dirty="0"/>
              <a:t>方向</a:t>
            </a:r>
            <a:r>
              <a:rPr lang="en-US" altLang="zh-CN" sz="1400" dirty="0"/>
              <a:t>1</a:t>
            </a:r>
            <a:r>
              <a:rPr lang="zh-CN" altLang="en-US" sz="1400" dirty="0"/>
              <a:t>：方向</a:t>
            </a:r>
            <a:r>
              <a:rPr lang="en-US" altLang="zh-CN" sz="1400" dirty="0"/>
              <a:t>1</a:t>
            </a:r>
            <a:r>
              <a:rPr lang="zh-CN" altLang="en-US" sz="1400" dirty="0"/>
              <a:t>洞察总结观点（</a:t>
            </a:r>
            <a:r>
              <a:rPr lang="en-US" altLang="zh-CN" sz="1400" dirty="0"/>
              <a:t>130</a:t>
            </a:r>
            <a:r>
              <a:rPr lang="zh-CN" altLang="en-US" sz="1400" dirty="0"/>
              <a:t>字以内）</a:t>
            </a:r>
            <a:endParaRPr lang="en-US" altLang="zh-CN" sz="1400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sz="1400" dirty="0"/>
              <a:t>方向</a:t>
            </a:r>
            <a:r>
              <a:rPr lang="en-US" altLang="zh-CN" sz="1400" dirty="0"/>
              <a:t>2</a:t>
            </a:r>
            <a:r>
              <a:rPr lang="zh-CN" altLang="en-US" sz="1400" dirty="0"/>
              <a:t>：方向</a:t>
            </a:r>
            <a:r>
              <a:rPr lang="en-US" altLang="zh-CN" sz="1400" dirty="0"/>
              <a:t>2</a:t>
            </a:r>
            <a:r>
              <a:rPr lang="zh-CN" altLang="en-US" sz="1400" dirty="0"/>
              <a:t>洞察总结观点（</a:t>
            </a:r>
            <a:r>
              <a:rPr lang="en-US" altLang="zh-CN" sz="1400" dirty="0"/>
              <a:t>130</a:t>
            </a:r>
            <a:r>
              <a:rPr lang="zh-CN" altLang="en-US" sz="1400" dirty="0"/>
              <a:t>字以内）</a:t>
            </a:r>
            <a:endParaRPr lang="en-US" altLang="zh-CN" sz="1400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zh-CN" altLang="en-US" sz="1400" dirty="0"/>
              <a:t>方向</a:t>
            </a:r>
            <a:r>
              <a:rPr lang="en-US" altLang="zh-CN" sz="1400" dirty="0"/>
              <a:t>3</a:t>
            </a:r>
            <a:r>
              <a:rPr lang="zh-CN" altLang="en-US" sz="1400" dirty="0"/>
              <a:t>：方向</a:t>
            </a:r>
            <a:r>
              <a:rPr lang="en-US" altLang="zh-CN" sz="1400" dirty="0"/>
              <a:t>3</a:t>
            </a:r>
            <a:r>
              <a:rPr lang="zh-CN" altLang="en-US" sz="1400" dirty="0"/>
              <a:t>洞察总结观点（</a:t>
            </a:r>
            <a:r>
              <a:rPr lang="en-US" altLang="zh-CN" sz="1400" dirty="0"/>
              <a:t>130</a:t>
            </a:r>
            <a:r>
              <a:rPr lang="zh-CN" altLang="en-US" sz="1400" dirty="0"/>
              <a:t>字以内）</a:t>
            </a:r>
            <a:endParaRPr lang="en-US" altLang="zh-CN" sz="1400" dirty="0"/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D4952729-1FE8-5DB9-86DC-72E784F70822}"/>
              </a:ext>
            </a:extLst>
          </p:cNvPr>
          <p:cNvSpPr txBox="1">
            <a:spLocks/>
          </p:cNvSpPr>
          <p:nvPr/>
        </p:nvSpPr>
        <p:spPr>
          <a:xfrm>
            <a:off x="1864711" y="4743450"/>
            <a:ext cx="8034939" cy="50271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798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sz="32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900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7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1699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5598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94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3396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7297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51195" indent="0" algn="ctr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b="1" dirty="0"/>
              <a:t>总结：</a:t>
            </a:r>
            <a:r>
              <a:rPr lang="zh-CN" altLang="en-US" sz="1400" dirty="0"/>
              <a:t>整体总结观点（</a:t>
            </a:r>
            <a:r>
              <a:rPr lang="en-US" altLang="zh-CN" sz="1400" dirty="0"/>
              <a:t>80</a:t>
            </a:r>
            <a:r>
              <a:rPr lang="zh-CN" altLang="en-US" sz="1400" dirty="0"/>
              <a:t>字以内）</a:t>
            </a:r>
          </a:p>
        </p:txBody>
      </p:sp>
    </p:spTree>
    <p:extLst>
      <p:ext uri="{BB962C8B-B14F-4D97-AF65-F5344CB8AC3E}">
        <p14:creationId xmlns:p14="http://schemas.microsoft.com/office/powerpoint/2010/main" val="1800421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>
            <a:extLst>
              <a:ext uri="{FF2B5EF4-FFF2-40B4-BE49-F238E27FC236}">
                <a16:creationId xmlns:a16="http://schemas.microsoft.com/office/drawing/2014/main" id="{2C3B3DA8-4985-E7A1-1693-E82509A94961}"/>
              </a:ext>
            </a:extLst>
          </p:cNvPr>
          <p:cNvGraphicFramePr>
            <a:graphicFrameLocks noGrp="1"/>
          </p:cNvGraphicFramePr>
          <p:nvPr>
            <p:ph idx="10"/>
            <p:extLst>
              <p:ext uri="{D42A27DB-BD31-4B8C-83A1-F6EECF244321}">
                <p14:modId xmlns:p14="http://schemas.microsoft.com/office/powerpoint/2010/main" val="289329023"/>
              </p:ext>
            </p:extLst>
          </p:nvPr>
        </p:nvGraphicFramePr>
        <p:xfrm>
          <a:off x="776287" y="1749424"/>
          <a:ext cx="10733088" cy="340042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84313">
                  <a:extLst>
                    <a:ext uri="{9D8B030D-6E8A-4147-A177-3AD203B41FA5}">
                      <a16:colId xmlns:a16="http://schemas.microsoft.com/office/drawing/2014/main" val="3677048082"/>
                    </a:ext>
                  </a:extLst>
                </a:gridCol>
                <a:gridCol w="3168650">
                  <a:extLst>
                    <a:ext uri="{9D8B030D-6E8A-4147-A177-3AD203B41FA5}">
                      <a16:colId xmlns:a16="http://schemas.microsoft.com/office/drawing/2014/main" val="2441736071"/>
                    </a:ext>
                  </a:extLst>
                </a:gridCol>
                <a:gridCol w="6080125">
                  <a:extLst>
                    <a:ext uri="{9D8B030D-6E8A-4147-A177-3AD203B41FA5}">
                      <a16:colId xmlns:a16="http://schemas.microsoft.com/office/drawing/2014/main" val="1153356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大类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2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</a:p>
                  </a:txBody>
                  <a:tcPr anchor="ctr"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8349137"/>
                  </a:ext>
                </a:extLst>
              </a:tr>
              <a:tr h="485775">
                <a:tc rowSpan="2"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大类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（和上页洞察方向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864038"/>
                  </a:ext>
                </a:extLst>
              </a:tr>
              <a:tr h="48577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417868"/>
                  </a:ext>
                </a:extLst>
              </a:tr>
              <a:tr h="485775">
                <a:tc rowSpan="2"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大类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（和上页洞察方向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对应）</a:t>
                      </a:r>
                    </a:p>
                    <a:p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657239"/>
                  </a:ext>
                </a:extLst>
              </a:tr>
              <a:tr h="48577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0071052"/>
                  </a:ext>
                </a:extLst>
              </a:tr>
              <a:tr h="485775">
                <a:tc rowSpan="2"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大类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（和上页洞察方向</a:t>
                      </a:r>
                      <a:r>
                        <a:rPr lang="en-US" altLang="zh-CN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100" b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对应</a:t>
                      </a: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1255352"/>
                  </a:ext>
                </a:extLst>
              </a:tr>
              <a:tr h="485775">
                <a:tc v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技术名称</a:t>
                      </a:r>
                      <a:r>
                        <a:rPr lang="en-US" altLang="zh-CN" sz="11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1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1187798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技术简介</a:t>
                      </a:r>
                      <a:r>
                        <a:rPr lang="en-US" altLang="zh-CN" sz="11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18791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25044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8536F3D-D0C8-B447-A64B-59D377EA5296}"/>
              </a:ext>
            </a:extLst>
          </p:cNvPr>
          <p:cNvSpPr txBox="1"/>
          <p:nvPr/>
        </p:nvSpPr>
        <p:spPr>
          <a:xfrm>
            <a:off x="5660391" y="-1188720"/>
            <a:ext cx="184731" cy="5283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3440"/>
              </a:lnSpc>
            </a:pPr>
            <a:endParaRPr lang="en-US" sz="32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2820D3DE-64C9-BB37-17AF-5E77CBCF44F4}"/>
              </a:ext>
            </a:extLst>
          </p:cNvPr>
          <p:cNvSpPr/>
          <p:nvPr/>
        </p:nvSpPr>
        <p:spPr>
          <a:xfrm>
            <a:off x="497523" y="1801686"/>
            <a:ext cx="564642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DC7DB71-ADA0-BFD3-A58A-572743DCFECC}"/>
              </a:ext>
            </a:extLst>
          </p:cNvPr>
          <p:cNvSpPr txBox="1"/>
          <p:nvPr/>
        </p:nvSpPr>
        <p:spPr>
          <a:xfrm>
            <a:off x="314741" y="143319"/>
            <a:ext cx="1194075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200" b="1" dirty="0" err="1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Agent.xpu</a:t>
            </a:r>
            <a:r>
              <a:rPr lang="en-US" altLang="zh-CN" sz="2200" b="1" dirty="0">
                <a:solidFill>
                  <a:srgbClr val="C810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Efficient Scheduling of Agentic LLM Workloads on Heterogeneous SoC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D1BCF5FA-2E05-F696-7955-3D5DD8350294}"/>
              </a:ext>
            </a:extLst>
          </p:cNvPr>
          <p:cNvSpPr/>
          <p:nvPr/>
        </p:nvSpPr>
        <p:spPr>
          <a:xfrm>
            <a:off x="6350000" y="1801686"/>
            <a:ext cx="5461000" cy="4021264"/>
          </a:xfrm>
          <a:prstGeom prst="roundRect">
            <a:avLst>
              <a:gd name="adj" fmla="val 6389"/>
            </a:avLst>
          </a:prstGeom>
          <a:noFill/>
          <a:ln>
            <a:solidFill>
              <a:srgbClr val="B5B5B5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01900F2-58CF-3CEC-8940-9F22C2A2CFBC}"/>
              </a:ext>
            </a:extLst>
          </p:cNvPr>
          <p:cNvSpPr txBox="1"/>
          <p:nvPr/>
        </p:nvSpPr>
        <p:spPr>
          <a:xfrm>
            <a:off x="2787174" y="1654147"/>
            <a:ext cx="106711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技术细节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3B06C3E-0B89-CF09-5D59-2E9C865F39BB}"/>
              </a:ext>
            </a:extLst>
          </p:cNvPr>
          <p:cNvSpPr txBox="1"/>
          <p:nvPr/>
        </p:nvSpPr>
        <p:spPr>
          <a:xfrm>
            <a:off x="8450263" y="1660928"/>
            <a:ext cx="1111567" cy="30777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b="1" dirty="0">
                <a:solidFill>
                  <a:srgbClr val="23181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DC63CE2-F933-0603-11BF-E9C3646919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3924527"/>
              </p:ext>
            </p:extLst>
          </p:nvPr>
        </p:nvGraphicFramePr>
        <p:xfrm>
          <a:off x="497523" y="863419"/>
          <a:ext cx="11313477" cy="700769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56292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750550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70076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技术</a:t>
                      </a:r>
                      <a:endParaRPr lang="en-US" altLang="zh-CN" sz="1400" dirty="0">
                        <a:solidFill>
                          <a:srgbClr val="231815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231815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背景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b="0" i="0" kern="12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Agent.xpu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 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是由北京大学和香港大学的研究团队开发的首个专门针对异构 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SoC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（如集成了 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CPU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、</a:t>
                      </a:r>
                      <a:r>
                        <a:rPr lang="en-US" altLang="zh-CN" sz="1200" b="0" i="0" kern="1200" dirty="0" err="1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iGPU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 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和 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NPU 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的移动端或笔记本芯片）设计的分布式、并发式大语言模型（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LLM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）推理引擎。其核心目标是在个人智能体（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Personal Agents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）在端侧运行时，响应式任务（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Reactive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，如用户提问）与主动式任务（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Proactive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，如后台自动任务、邮件处理）并发执行时的效率与响应延迟问题。</a:t>
                      </a:r>
                      <a:endParaRPr lang="zh-CN" altLang="en-US" sz="12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F6C947C9-A797-4402-58F1-20246C30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588552"/>
              </p:ext>
            </p:extLst>
          </p:nvPr>
        </p:nvGraphicFramePr>
        <p:xfrm>
          <a:off x="484823" y="5906558"/>
          <a:ext cx="11386725" cy="58314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713567">
                  <a:extLst>
                    <a:ext uri="{9D8B030D-6E8A-4147-A177-3AD203B41FA5}">
                      <a16:colId xmlns:a16="http://schemas.microsoft.com/office/drawing/2014/main" val="545409678"/>
                    </a:ext>
                  </a:extLst>
                </a:gridCol>
                <a:gridCol w="10673158">
                  <a:extLst>
                    <a:ext uri="{9D8B030D-6E8A-4147-A177-3AD203B41FA5}">
                      <a16:colId xmlns:a16="http://schemas.microsoft.com/office/drawing/2014/main" val="2378665889"/>
                    </a:ext>
                  </a:extLst>
                </a:gridCol>
              </a:tblGrid>
              <a:tr h="58314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洞察</a:t>
                      </a:r>
                      <a:endParaRPr lang="en-US" altLang="zh-CN" sz="14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1400" dirty="0">
                          <a:solidFill>
                            <a:srgbClr val="C8102E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启示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miter lim="800000"/>
                    </a:lnL>
                    <a:lnR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通过异构芯片的高度协同，无需昂贵的云端算力即可支持复杂的多 </a:t>
                      </a:r>
                      <a:r>
                        <a:rPr lang="en-US" altLang="zh-CN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Agent </a:t>
                      </a:r>
                      <a:r>
                        <a:rPr lang="zh-CN" altLang="en-US" sz="1200" b="0" i="0" kern="1200" dirty="0"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协程流，在保障用户数据绝对私密的同时，可大幅降低推理成本。</a:t>
                      </a:r>
                      <a:endParaRPr lang="zh-CN" altLang="en-US" sz="1200" dirty="0">
                        <a:solidFill>
                          <a:srgbClr val="C8102E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miter lim="800000"/>
                    </a:lnR>
                    <a:lnT w="6350" cap="flat" cmpd="sng" algn="ctr">
                      <a:noFill/>
                      <a:prstDash val="solid"/>
                      <a:miter lim="800000"/>
                    </a:lnT>
                    <a:lnB w="6350" cap="flat" cmpd="sng" algn="ctr">
                      <a:noFill/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18396"/>
                  </a:ext>
                </a:extLst>
              </a:tr>
            </a:tbl>
          </a:graphicData>
        </a:graphic>
      </p:graphicFrame>
      <p:sp>
        <p:nvSpPr>
          <p:cNvPr id="13" name="文本框 12">
            <a:extLst>
              <a:ext uri="{FF2B5EF4-FFF2-40B4-BE49-F238E27FC236}">
                <a16:creationId xmlns:a16="http://schemas.microsoft.com/office/drawing/2014/main" id="{E9873BFF-5BDE-35A4-3F27-80AFA216F16E}"/>
              </a:ext>
            </a:extLst>
          </p:cNvPr>
          <p:cNvSpPr txBox="1"/>
          <p:nvPr/>
        </p:nvSpPr>
        <p:spPr>
          <a:xfrm>
            <a:off x="314741" y="544345"/>
            <a:ext cx="71024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参考： </a:t>
            </a:r>
            <a:r>
              <a:rPr lang="zh-CN" altLang="en-US" sz="1000" i="1" u="sng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arXiv:2506.24045 v2</a:t>
            </a:r>
            <a:endParaRPr lang="zh-CN" altLang="en-US" sz="1000" i="1" u="sng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D888AB2-D526-DF67-DC65-546687A83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76" y="2000387"/>
            <a:ext cx="2735051" cy="1973527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165800C-ACB7-3E04-EE1D-07AAC50A1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3347330"/>
            <a:ext cx="4692650" cy="1605583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BEE3D03A-1657-7E7D-986F-3DCA556C2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4926" y="2010083"/>
            <a:ext cx="2526839" cy="1829366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CF4C16CF-0A1C-F0EB-829D-8F06740E413D}"/>
              </a:ext>
            </a:extLst>
          </p:cNvPr>
          <p:cNvSpPr txBox="1"/>
          <p:nvPr/>
        </p:nvSpPr>
        <p:spPr>
          <a:xfrm>
            <a:off x="673803" y="4211412"/>
            <a:ext cx="528796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离线构建异构执行图（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HEG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：将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LLM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算子按亲和性拆分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静态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GEMM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类交给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预编译，动态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MHA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类交给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iGPU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Prefill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Decode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两阶段异构解耦，从根本上消除阶段间互扰。 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在线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 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级抢占调度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Reactive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任务到达时可在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边界精准打断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Proactive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任务，响应延迟不受后台任务拖累，同时用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空闲时隙回填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"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机制保住后台吞吐。 </a:t>
            </a:r>
            <a:endParaRPr lang="en-US" altLang="zh-CN" sz="11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带宽感知 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NPU-</a:t>
            </a:r>
            <a:r>
              <a:rPr lang="en-US" altLang="zh-CN" sz="1100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iGPU</a:t>
            </a:r>
            <a:r>
              <a:rPr lang="en-US" altLang="zh-CN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协同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：实时检测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DDR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总线饱和状态，动态路由计算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kernel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，避免两个加速器同时抢占内存带宽，在功耗与性能之间取得最优平衡。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9FE96DC-5BFE-BD72-AD63-E6CFC96CF1FF}"/>
              </a:ext>
            </a:extLst>
          </p:cNvPr>
          <p:cNvSpPr txBox="1"/>
          <p:nvPr/>
        </p:nvSpPr>
        <p:spPr>
          <a:xfrm>
            <a:off x="6477002" y="1941239"/>
            <a:ext cx="5168898" cy="14060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50"/>
              </a:lnSpc>
              <a:buNone/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实验方法（</a:t>
            </a:r>
            <a:r>
              <a:rPr lang="en-US" altLang="zh-CN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Experimental Setup</a:t>
            </a: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  <a:p>
            <a:pPr algn="l">
              <a:lnSpc>
                <a:spcPts val="1650"/>
              </a:lnSpc>
              <a:buNone/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平台与模型：</a:t>
            </a:r>
            <a:r>
              <a:rPr lang="en-US" altLang="zh-CN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Intel Core Ultra SoC</a:t>
            </a:r>
            <a:r>
              <a:rPr lang="zh-CN" altLang="en-US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Llama 3B/8B 8 </a:t>
            </a:r>
            <a:r>
              <a:rPr lang="zh-CN" altLang="en-US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位量化模型。</a:t>
            </a:r>
          </a:p>
          <a:p>
            <a:pPr algn="l">
              <a:lnSpc>
                <a:spcPts val="1650"/>
              </a:lnSpc>
              <a:buNone/>
            </a:pPr>
            <a:r>
              <a:rPr lang="zh-CN" altLang="en-US" sz="1100" b="1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负载模拟：</a:t>
            </a:r>
            <a:r>
              <a:rPr lang="zh-CN" altLang="en-US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混合 </a:t>
            </a:r>
            <a:r>
              <a:rPr lang="en-US" altLang="zh-CN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Proactive</a:t>
            </a:r>
            <a:r>
              <a:rPr lang="zh-CN" altLang="en-US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（事件处理、摘要）与 </a:t>
            </a:r>
            <a:r>
              <a:rPr lang="en-US" altLang="zh-CN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Reactive</a:t>
            </a:r>
            <a:r>
              <a:rPr lang="zh-CN" altLang="en-US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（对话、函数调用）真实场景，模拟不同请求速率（</a:t>
            </a:r>
            <a:r>
              <a:rPr lang="en-US" altLang="zh-CN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1-30 req/min</a:t>
            </a:r>
            <a:r>
              <a:rPr lang="zh-CN" altLang="en-US" sz="1100" b="0" i="0" dirty="0">
                <a:solidFill>
                  <a:srgbClr val="1A1C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  <a:endParaRPr lang="en-US" altLang="zh-CN" sz="1100" b="0" i="0" dirty="0">
              <a:solidFill>
                <a:srgbClr val="1A1C1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1650"/>
              </a:lnSpc>
            </a:pPr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对比基准：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对比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Llama.cpp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CPU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）、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OpenVINO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）及最优化的静态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NPU-GPU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串行方案。</a:t>
            </a:r>
            <a:endParaRPr lang="zh-CN" altLang="en-US" sz="1100" b="0" i="0" dirty="0">
              <a:solidFill>
                <a:srgbClr val="1A1C1F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01F4CB36-7FAE-44AA-2B55-0112FAD771AC}"/>
              </a:ext>
            </a:extLst>
          </p:cNvPr>
          <p:cNvSpPr txBox="1"/>
          <p:nvPr/>
        </p:nvSpPr>
        <p:spPr>
          <a:xfrm>
            <a:off x="6434455" y="5093671"/>
            <a:ext cx="529209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性能：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主动式任务吞吐量提升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1.2-4.9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倍，响应式任务延迟（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P90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）降低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91%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以上。</a:t>
            </a:r>
          </a:p>
          <a:p>
            <a:r>
              <a: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效率：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相比工业级 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iGPU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引擎，能耗降低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26.8%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1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iGPU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占用减少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32.5%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，显著降低对系统 </a:t>
            </a:r>
            <a:r>
              <a:rPr lang="en-US" altLang="zh-CN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UI </a:t>
            </a:r>
            <a:r>
              <a:rPr lang="zh-CN" altLang="en-US" sz="11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的干扰。</a:t>
            </a:r>
          </a:p>
        </p:txBody>
      </p:sp>
    </p:spTree>
    <p:extLst>
      <p:ext uri="{BB962C8B-B14F-4D97-AF65-F5344CB8AC3E}">
        <p14:creationId xmlns:p14="http://schemas.microsoft.com/office/powerpoint/2010/main" val="2067755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2022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315BE1C-957E-4706-A7F6-2B101CD944E6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172</TotalTime>
  <Words>575</Words>
  <Application>Microsoft Office PowerPoint</Application>
  <PresentationFormat>自定义</PresentationFormat>
  <Paragraphs>48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微软雅黑</vt:lpstr>
      <vt:lpstr>微软雅黑</vt:lpstr>
      <vt:lpstr>Arial</vt:lpstr>
      <vt:lpstr>Calibri</vt:lpstr>
      <vt:lpstr>1_Title Slide</vt:lpstr>
      <vt:lpstr>Chart page</vt:lpstr>
      <vt:lpstr>4_Chart page</vt:lpstr>
      <vt:lpstr>End page</vt:lpstr>
      <vt:lpstr>xxxx技术洞察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Johnny Yu</cp:lastModifiedBy>
  <cp:revision>47</cp:revision>
  <dcterms:created xsi:type="dcterms:W3CDTF">2018-12-05T07:23:25Z</dcterms:created>
  <dcterms:modified xsi:type="dcterms:W3CDTF">2026-05-09T08:14:52Z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