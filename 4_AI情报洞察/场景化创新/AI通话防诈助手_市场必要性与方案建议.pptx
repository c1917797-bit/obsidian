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61563f5be4394" /><Relationship Type="http://schemas.openxmlformats.org/officeDocument/2006/relationships/extended-properties" Target="/docProps/app.xml" Id="R9cd639a4b7e04dd1" /><Relationship Type="http://schemas.openxmlformats.org/officeDocument/2006/relationships/officeDocument" Target="/ppt/presentation.xml" Id="R37d52e81bb7f4c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999c0c22d040d4"/>
  </p:sldMasterIdLst>
  <p:notesMasterIdLst>
    <p:notesMasterId xmlns:r="http://schemas.openxmlformats.org/officeDocument/2006/relationships" r:id="R31ec39410584418d"/>
  </p:notesMasterIdLst>
  <p:sldIdLst>
    <p:sldId xmlns:r="http://schemas.openxmlformats.org/officeDocument/2006/relationships" id="256" r:id="Rf0bcf251797340f0"/>
    <p:sldId xmlns:r="http://schemas.openxmlformats.org/officeDocument/2006/relationships" id="257" r:id="Re3ae59182d644672"/>
    <p:sldId xmlns:r="http://schemas.openxmlformats.org/officeDocument/2006/relationships" id="258" r:id="Rbfa5133371074a98"/>
    <p:sldId xmlns:r="http://schemas.openxmlformats.org/officeDocument/2006/relationships" id="259" r:id="R505c290bafa34fb1"/>
    <p:sldId xmlns:r="http://schemas.openxmlformats.org/officeDocument/2006/relationships" id="260" r:id="R626d6f06ff834956"/>
    <p:sldId xmlns:r="http://schemas.openxmlformats.org/officeDocument/2006/relationships" id="261" r:id="R3cdca98f3246419c"/>
    <p:sldId xmlns:r="http://schemas.openxmlformats.org/officeDocument/2006/relationships" id="262" r:id="Rb1199dad23c04bb0"/>
    <p:sldId xmlns:r="http://schemas.openxmlformats.org/officeDocument/2006/relationships" id="263" r:id="R5055c4d472fe4e8c"/>
    <p:sldId xmlns:r="http://schemas.openxmlformats.org/officeDocument/2006/relationships" id="264" r:id="Rf320dead428a48db"/>
    <p:sldId xmlns:r="http://schemas.openxmlformats.org/officeDocument/2006/relationships" id="265" r:id="R736fee3a18934aca"/>
    <p:sldId xmlns:r="http://schemas.openxmlformats.org/officeDocument/2006/relationships" id="266" r:id="Ra54d495748a846f2"/>
    <p:sldId xmlns:r="http://schemas.openxmlformats.org/officeDocument/2006/relationships" id="267" r:id="R889024e2bf5f4e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64c3c2573447a" /><Relationship Type="http://schemas.openxmlformats.org/officeDocument/2006/relationships/slideMaster" Target="/ppt/slideMasters/slideMaster1.xml" Id="R2d999c0c22d040d4" /><Relationship Type="http://schemas.openxmlformats.org/officeDocument/2006/relationships/notesMaster" Target="/ppt/notesMasters/notesMaster1.xml" Id="R31ec39410584418d" /><Relationship Type="http://schemas.openxmlformats.org/officeDocument/2006/relationships/presProps" Target="/ppt/presProps.xml" Id="R5db61302c1c74727" /><Relationship Type="http://schemas.openxmlformats.org/officeDocument/2006/relationships/tableStyles" Target="/ppt/tableStyles.xml" Id="R1d44e93db9dc412c" /><Relationship Type="http://schemas.openxmlformats.org/officeDocument/2006/relationships/slide" Target="/ppt/slides/slide1.xml" Id="Rf0bcf251797340f0" /><Relationship Type="http://schemas.openxmlformats.org/officeDocument/2006/relationships/slide" Target="/ppt/slides/slide2.xml" Id="Re3ae59182d644672" /><Relationship Type="http://schemas.openxmlformats.org/officeDocument/2006/relationships/slide" Target="/ppt/slides/slide3.xml" Id="Rbfa5133371074a98" /><Relationship Type="http://schemas.openxmlformats.org/officeDocument/2006/relationships/slide" Target="/ppt/slides/slide4.xml" Id="R505c290bafa34fb1" /><Relationship Type="http://schemas.openxmlformats.org/officeDocument/2006/relationships/slide" Target="/ppt/slides/slide5.xml" Id="R626d6f06ff834956" /><Relationship Type="http://schemas.openxmlformats.org/officeDocument/2006/relationships/slide" Target="/ppt/slides/slide6.xml" Id="R3cdca98f3246419c" /><Relationship Type="http://schemas.openxmlformats.org/officeDocument/2006/relationships/slide" Target="/ppt/slides/slide7.xml" Id="Rb1199dad23c04bb0" /><Relationship Type="http://schemas.openxmlformats.org/officeDocument/2006/relationships/slide" Target="/ppt/slides/slide8.xml" Id="R5055c4d472fe4e8c" /><Relationship Type="http://schemas.openxmlformats.org/officeDocument/2006/relationships/slide" Target="/ppt/slides/slide9.xml" Id="Rf320dead428a48db" /><Relationship Type="http://schemas.openxmlformats.org/officeDocument/2006/relationships/slide" Target="/ppt/slides/slide10.xml" Id="R736fee3a18934aca" /><Relationship Type="http://schemas.openxmlformats.org/officeDocument/2006/relationships/slide" Target="/ppt/slides/slide11.xml" Id="Ra54d495748a846f2" /><Relationship Type="http://schemas.openxmlformats.org/officeDocument/2006/relationships/slide" Target="/ppt/slides/slide12.xml" Id="R889024e2bf5f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d018e8949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3a47562c948b0" /><Relationship Type="http://schemas.openxmlformats.org/officeDocument/2006/relationships/notesMaster" Target="/ppt/notesMasters/notesMaster1.xml" Id="R6c858b01964a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f09d3de4754c33" /><Relationship Type="http://schemas.openxmlformats.org/officeDocument/2006/relationships/notesMaster" Target="/ppt/notesMasters/notesMaster1.xml" Id="R01ccddc05524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66e315b9c49eb" /><Relationship Type="http://schemas.openxmlformats.org/officeDocument/2006/relationships/notesMaster" Target="/ppt/notesMasters/notesMaster1.xml" Id="Rdb2a5dfb72b24f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53f9fca2294e23" /><Relationship Type="http://schemas.openxmlformats.org/officeDocument/2006/relationships/notesMaster" Target="/ppt/notesMasters/notesMaster1.xml" Id="Rbb27f261111f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1ab16b77834fa7" /><Relationship Type="http://schemas.openxmlformats.org/officeDocument/2006/relationships/notesMaster" Target="/ppt/notesMasters/notesMaster1.xml" Id="Rd504ade55cf54e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2cdfc167dd451c" /><Relationship Type="http://schemas.openxmlformats.org/officeDocument/2006/relationships/notesMaster" Target="/ppt/notesMasters/notesMaster1.xml" Id="R84c9af97e18c4f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d4e4c81334f28" /><Relationship Type="http://schemas.openxmlformats.org/officeDocument/2006/relationships/notesMaster" Target="/ppt/notesMasters/notesMaster1.xml" Id="R84ad4f97acfe49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fc260f2dcb4bc6" /><Relationship Type="http://schemas.openxmlformats.org/officeDocument/2006/relationships/notesMaster" Target="/ppt/notesMasters/notesMaster1.xml" Id="R3efa4933853f4b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5c5c090eaa43c2" /><Relationship Type="http://schemas.openxmlformats.org/officeDocument/2006/relationships/notesMaster" Target="/ppt/notesMasters/notesMaster1.xml" Id="Re2a5a5bca4ac42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880808d51a454e" /><Relationship Type="http://schemas.openxmlformats.org/officeDocument/2006/relationships/notesMaster" Target="/ppt/notesMasters/notesMaster1.xml" Id="R9a41583b0dd2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0e5dcccfe48f4" /><Relationship Type="http://schemas.openxmlformats.org/officeDocument/2006/relationships/notesMaster" Target="/ppt/notesMasters/notesMaster1.xml" Id="R7aba6576a3af42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24690a9fe24966" /><Relationship Type="http://schemas.openxmlformats.org/officeDocument/2006/relationships/notesMaster" Target="/ppt/notesMasters/notesMaster1.xml" Id="R6035fe0c9ad24a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df4bb3e1c42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d931375834ea0" /><Relationship Type="http://schemas.openxmlformats.org/officeDocument/2006/relationships/slideLayout" Target="/ppt/slideLayouts/slideLayout1.xml" Id="Rb02c0a509a3b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c0a509a3b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da2caf3b425d" /><Relationship Type="http://schemas.openxmlformats.org/officeDocument/2006/relationships/notesSlide" Target="/ppt/notesSlides/notesSlide1.xml" Id="R09ead4f427e7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527d7d1f4a86" /><Relationship Type="http://schemas.openxmlformats.org/officeDocument/2006/relationships/notesSlide" Target="/ppt/notesSlides/notesSlide2.xml" Id="Ra625b4432c24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2216a32654161" /><Relationship Type="http://schemas.openxmlformats.org/officeDocument/2006/relationships/notesSlide" Target="/ppt/notesSlides/notesSlide3.xml" Id="R4b67611cff11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929c924f84340" /><Relationship Type="http://schemas.openxmlformats.org/officeDocument/2006/relationships/notesSlide" Target="/ppt/notesSlides/notesSlide4.xml" Id="Re01e86707452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7bd525fd4125" /><Relationship Type="http://schemas.openxmlformats.org/officeDocument/2006/relationships/notesSlide" Target="/ppt/notesSlides/notesSlide5.xml" Id="R8da09e5c0aea47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e4f0f7404c7b" /><Relationship Type="http://schemas.openxmlformats.org/officeDocument/2006/relationships/notesSlide" Target="/ppt/notesSlides/notesSlide6.xml" Id="Rf55ae2197c16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e7881a7784790" /><Relationship Type="http://schemas.openxmlformats.org/officeDocument/2006/relationships/notesSlide" Target="/ppt/notesSlides/notesSlide7.xml" Id="Re8bbd315e778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d3857018c4387" /><Relationship Type="http://schemas.openxmlformats.org/officeDocument/2006/relationships/notesSlide" Target="/ppt/notesSlides/notesSlide8.xml" Id="R1ea7083e50a242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ccdf2b20c4866" /><Relationship Type="http://schemas.openxmlformats.org/officeDocument/2006/relationships/notesSlide" Target="/ppt/notesSlides/notesSlide9.xml" Id="R3b33ab12da6a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335b331fe46fb" /><Relationship Type="http://schemas.openxmlformats.org/officeDocument/2006/relationships/notesSlide" Target="/ppt/notesSlides/notesSlide10.xml" Id="R43e61c39ba1846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c528865834fe8" /><Relationship Type="http://schemas.openxmlformats.org/officeDocument/2006/relationships/notesSlide" Target="/ppt/notesSlides/notesSlide11.xml" Id="Rd9da71a3000140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37eb6d88e4330" /><Relationship Type="http://schemas.openxmlformats.org/officeDocument/2006/relationships/notesSlide" Target="/ppt/notesSlides/notesSlide12.xml" Id="Raf01998df7c54b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D88D4-23B4-4F22-9D48-128C9C3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02130-B8D4-44E0-A183-AFFC844E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3D"/>
                </a:solidFill>
              </a:defRPr>
            </a:pPr>
            <a:r>
              <a:rPr sz="4350" b="1">
                <a:solidFill>
                  <a:srgbClr val="14213D"/>
                </a:solidFill>
              </a:rPr>
              <a:t>AI 通话防诈助手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202CB-D2B6-4664-B500-BF334B1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67"/>
                </a:solidFill>
              </a:defRPr>
            </a:pPr>
            <a:r>
              <a:rPr sz="2100" b="1">
                <a:solidFill>
                  <a:srgbClr val="173B67"/>
                </a:solidFill>
              </a:rPr>
              <a:t>市场必要性、方案边界与立项建议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4134F-C994-4F75-A5E9-7FFAAE4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运营商安全底座 × 终端端侧识别 × 家庭联防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0FB5C-ECD2-4404-BB8B-37FBCCB8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67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3DD37-AA43-4A2D-8773-BA4DA0B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内部评审 · Conditional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8B483-E95B-4AF0-B766-DB59B9ED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2026年7月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CBC9E-1FD3-4ED9-B8C8-3BAFE0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基于公安部、工信部、国家统计局及厂商官方资料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71323-EF27-4670-92C6-EAFA91A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4088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92849F3A-4D27-4D86-A616-2B935E73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项目结论：Conditional Go，先验证增量价值再建设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0A9A9-DCB0-4272-9A68-4E1B5D3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conclusion-bg-2">
            <a:extLst xmlns:a="http://schemas.openxmlformats.org/drawingml/2006/main">
              <a:ext uri="{FF2B5EF4-FFF2-40B4-BE49-F238E27FC236}">
                <a16:creationId xmlns:a16="http://schemas.microsoft.com/office/drawing/2014/main" id="{575491E8-1E5C-4B8D-8401-D20C9C4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43136-9CDF-4441-B552-D39A5E40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A8460232-B310-43BC-8B10-E42E31B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如果终端完整覆盖超过90%，且运营商能力无显著增量，应停止自建，转为API与协同平台。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939DC-FC65-46EC-B52F-B72CBBB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B9A97-5731-4CE2-BC34-6078381C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276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08711-013A-4CE1-BAE3-891EF512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EF268-3C14-4171-85CB-13BCB8C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716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有需求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23F34-50EB-451E-B305-110031F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数十亿次网络拦截后，仍需数百万次人工劝阻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A67D3-A4D9-41C1-A446-A3B7A6A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00150"/>
            <a:ext cx="5276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B2B54-A8D7-48A5-8E54-C57EF27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0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67"/>
                </a:solidFill>
              </a:defRPr>
            </a:pPr>
            <a:r>
              <a:rPr sz="1875" b="1">
                <a:solidFill>
                  <a:srgbClr val="173B6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591F1-3C38-4093-9815-5822B78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716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有重叠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00BF6-05CC-4AA6-A9AD-1B2A6F07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终端已覆盖摘要、转写和局部反诈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53273-3DAF-404B-AF0C-A0898258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276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E8F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C1AC3-C236-486E-A982-A665052E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7A62"/>
                </a:solidFill>
              </a:defRPr>
            </a:pPr>
            <a:r>
              <a:rPr sz="1875" b="1">
                <a:solidFill>
                  <a:srgbClr val="277A6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C0B21-9736-47F2-8481-99EEC98B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有增量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E03B0-57E8-42C6-8AE3-F2D23CC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运营商可提供网侧信号与跨品牌触达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50BE3-088A-4F36-86F5-62E461C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5276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B5438-F290-4550-930C-AEED48AB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96613"/>
                </a:solidFill>
              </a:defRPr>
            </a:pPr>
            <a:r>
              <a:rPr sz="1875" b="1">
                <a:solidFill>
                  <a:srgbClr val="A9661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3ED2B-3B16-45A1-817D-7D626878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有前提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3F9FA-44B5-4DAB-9AD1-14DF0155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合规、准确率、单位经济性必须同时过线</a:t>
            </a:r>
          </a:p>
        </p:txBody>
      </p:sp>
    </p:spTree>
    <p:extLst>
      <p:ext uri="{BB962C8B-B14F-4D97-AF65-F5344CB8AC3E}">
        <p14:creationId xmlns:p14="http://schemas.microsoft.com/office/powerpoint/2010/main" val="1717064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3F652792-CC09-4860-BAD5-7C78F07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治理规模已达十亿级，但“电话接通后的最后一公里”仍存在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404D1-793D-4814-9B30-A1F8384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8CB95-CA77-489D-B635-9631ACF7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来源：2025年全国反诈工作数据，公安部/新华社转载</a:t>
            </a:r>
          </a:p>
        </p:txBody>
      </p:sp>
      <p:sp>
        <p:nvSpPr>
          <p:cNvPr id="4" name="conclusion-bg-3">
            <a:extLst xmlns:a="http://schemas.openxmlformats.org/drawingml/2006/main">
              <a:ext uri="{FF2B5EF4-FFF2-40B4-BE49-F238E27FC236}">
                <a16:creationId xmlns:a16="http://schemas.microsoft.com/office/drawing/2014/main" id="{58424AC5-DC81-41D3-BAA8-C098D26F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8156F-6856-41A9-8B0F-317B5E61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D7485B26-2684-4058-BE86-5012610B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市场价值不在新增号码黑名单，而在高风险通话进行时阻止用户执行危险动作。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D5DE7-F951-4DAE-B7DB-9FD7651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B1D60-E775-4695-8641-ECB8C5A6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1C880-5AB7-4606-9FFA-E326737B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BFF"/>
                </a:solidFill>
              </a:defRPr>
            </a:pPr>
            <a:r>
              <a:rPr sz="2850" b="1">
                <a:solidFill>
                  <a:srgbClr val="2F6BFF"/>
                </a:solidFill>
              </a:rPr>
              <a:t>36亿次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67FDE-E34E-446D-8012-DEDBE47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19325"/>
            <a:ext cx="2228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诈骗电话拦截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FCF3F-48B3-40F1-9F93-08420D50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76375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00527-7BA0-4F40-8758-2DD7190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478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BFF"/>
                </a:solidFill>
              </a:defRPr>
            </a:pPr>
            <a:r>
              <a:rPr sz="2850" b="1">
                <a:solidFill>
                  <a:srgbClr val="2F6BFF"/>
                </a:solidFill>
              </a:rPr>
              <a:t>33亿条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A2F9C-C6E8-42F9-AFC1-0395AD91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2228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诈骗短信拦截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AD138-CFAB-421B-B92C-8C06C5B1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BEA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8C2CE-0330-4652-B3A7-0F791DB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478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64040"/>
                </a:solidFill>
              </a:defRPr>
            </a:pPr>
            <a:r>
              <a:rPr sz="2850" b="1">
                <a:solidFill>
                  <a:srgbClr val="C64040"/>
                </a:solidFill>
              </a:rPr>
              <a:t>674.7万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26374-5E12-4FB9-B3B4-6FBDF1A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19325"/>
            <a:ext cx="2228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见面劝阻人次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44921-25E3-4011-8825-1A5D111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EC7BD-6490-4BA5-A2C3-47556D7E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478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BFF"/>
                </a:solidFill>
              </a:defRPr>
            </a:pPr>
            <a:r>
              <a:rPr sz="2850" b="1">
                <a:solidFill>
                  <a:srgbClr val="2F6BFF"/>
                </a:solidFill>
              </a:rPr>
              <a:t>25.8万起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1357A-3B90-4DB8-BEA6-DC5D733C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19325"/>
            <a:ext cx="2228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侦破电诈案件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386BE-61E8-4B1B-A032-144BCD1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64040"/>
                </a:solidFill>
              </a:defRPr>
            </a:pPr>
            <a:r>
              <a:rPr sz="1650" b="1">
                <a:solidFill>
                  <a:srgbClr val="C64040"/>
                </a:solidFill>
              </a:rPr>
              <a:t>含义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8B54F-5BB9-4E98-855C-13A2A0E1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</a:defRPr>
            </a:pPr>
            <a:r>
              <a:rPr sz="1500" b="0">
                <a:solidFill>
                  <a:srgbClr val="14213D"/>
                </a:solidFill>
              </a:rPr>
              <a:t>号码与样本治理已经规模化，但仍有大量用户在风险发生后需要人工介入。项目要争取的是“动作发生前”的窗口，而不是重复接通前的号码标记。</a:t>
            </a:r>
          </a:p>
        </p:txBody>
      </p:sp>
    </p:spTree>
    <p:extLst>
      <p:ext uri="{BB962C8B-B14F-4D97-AF65-F5344CB8AC3E}">
        <p14:creationId xmlns:p14="http://schemas.microsoft.com/office/powerpoint/2010/main" val="1176776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0735D35E-E39B-4F0C-817B-A1CD12E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终端厂商覆盖了部分能力，但没有证据证明“90%需求已解决”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94EAB-26F9-4A6E-893D-96A82A2F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DDA2A-F1B6-466E-AAA2-A88CCB7C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来源：华为、vivo、Apple、OPPO、荣耀、小米官方资料</a:t>
            </a:r>
          </a:p>
        </p:txBody>
      </p:sp>
      <p:sp>
        <p:nvSpPr>
          <p:cNvPr id="4" name="conclusion-bg-4">
            <a:extLst xmlns:a="http://schemas.openxmlformats.org/drawingml/2006/main">
              <a:ext uri="{FF2B5EF4-FFF2-40B4-BE49-F238E27FC236}">
                <a16:creationId xmlns:a16="http://schemas.microsoft.com/office/drawing/2014/main" id="{AEC1F837-0200-4CB4-9D0A-F5C7AD3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13B69-3C84-4989-AE7E-C925462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4">
            <a:extLst xmlns:a="http://schemas.openxmlformats.org/drawingml/2006/main">
              <a:ext uri="{FF2B5EF4-FFF2-40B4-BE49-F238E27FC236}">
                <a16:creationId xmlns:a16="http://schemas.microsoft.com/office/drawing/2014/main" id="{07568BAE-4FD2-4B48-AC28-DFBEB3B6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必须用存量设备覆盖、功能开启、完整闭环与成功阻断四个指标验证90%假设。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ABC73-3676-4A3D-90EE-ECC1643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" y="1200150"/>
          <a:ext xmlns:a="http://schemas.openxmlformats.org/drawingml/2006/main" cx="11201400" cy="3695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66875"/>
                <a:gridCol w="1619250"/>
                <a:gridCol w="2095500"/>
                <a:gridCol w="1714500"/>
                <a:gridCol w="4105275"/>
              </a:tblGrid>
              <a:tr h="6159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方案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通话摘要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实时语义判诈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家庭联防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主要边界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华为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已具备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局部具备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已具备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需新系统；跨品牌未证实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vivo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部分机型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端侧具备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未核验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摘要需主动开启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Apple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录音后摘要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未核验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未核验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地区/机型/语言限制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OPPO/荣耀/小米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部分具备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未充分核验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未核验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机型、权限、开启方式分散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运营商现状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已有产品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中国电信已验证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完整闭环未核验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跨品牌规模化仍待验证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3CB6-B942-47DD-BCE6-6451BF1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BEA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A751E-837B-4AEE-8103-8ECA080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040"/>
                </a:solidFill>
              </a:defRPr>
            </a:pPr>
            <a:r>
              <a:rPr sz="975" b="1">
                <a:solidFill>
                  <a:srgbClr val="C64040"/>
                </a:solidFill>
              </a:rPr>
              <a:t>品牌份额 ≠ 功能覆盖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8C30-AF70-45A0-BBE3-33DF36D5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F2240-90B3-43D3-9CB2-A808E9E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81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613"/>
                </a:solidFill>
              </a:defRPr>
            </a:pPr>
            <a:r>
              <a:rPr sz="975" b="1">
                <a:solidFill>
                  <a:srgbClr val="A96613"/>
                </a:solidFill>
              </a:rPr>
              <a:t>功能可用 ≠ 用户开启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64366-0F2B-4D6F-8957-C311259D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6255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BF741-9744-42C2-BD50-12D90E0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81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提醒送达 ≠ 成功阻断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73F51-136A-446E-9FC6-7CFE917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E8F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A11D6-2DC9-4493-A1F1-EE076D5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81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7A62"/>
                </a:solidFill>
              </a:defRPr>
            </a:pPr>
            <a:r>
              <a:rPr sz="975" b="1">
                <a:solidFill>
                  <a:srgbClr val="277A62"/>
                </a:solidFill>
              </a:rPr>
              <a:t>出货量 ≠ 存量设备</a:t>
            </a:r>
          </a:p>
        </p:txBody>
      </p:sp>
    </p:spTree>
    <p:extLst>
      <p:ext uri="{BB962C8B-B14F-4D97-AF65-F5344CB8AC3E}">
        <p14:creationId xmlns:p14="http://schemas.microsoft.com/office/powerpoint/2010/main" val="764333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-5">
            <a:extLst xmlns:a="http://schemas.openxmlformats.org/drawingml/2006/main">
              <a:ext uri="{FF2B5EF4-FFF2-40B4-BE49-F238E27FC236}">
                <a16:creationId xmlns:a16="http://schemas.microsoft.com/office/drawing/2014/main" id="{B3895E35-71E5-4E26-9F12-96CF388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运营商的必要性来自网络与协同能力，而不是复制终端功能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69F29-4942-4302-BC0C-CBDFC45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90ED9-AC16-4A3A-8513-7AC3E77D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来源：《反电信网络诈骗法》及厂商官方能力</a:t>
            </a:r>
          </a:p>
        </p:txBody>
      </p:sp>
      <p:sp>
        <p:nvSpPr>
          <p:cNvPr id="4" name="conclusion-bg-5">
            <a:extLst xmlns:a="http://schemas.openxmlformats.org/drawingml/2006/main">
              <a:ext uri="{FF2B5EF4-FFF2-40B4-BE49-F238E27FC236}">
                <a16:creationId xmlns:a16="http://schemas.microsoft.com/office/drawing/2014/main" id="{E547244B-62FC-4275-A800-920FD4E6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6148E-C2EF-4369-8C75-D7063BF5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5">
            <a:extLst xmlns:a="http://schemas.openxmlformats.org/drawingml/2006/main">
              <a:ext uri="{FF2B5EF4-FFF2-40B4-BE49-F238E27FC236}">
                <a16:creationId xmlns:a16="http://schemas.microsoft.com/office/drawing/2014/main" id="{041FB3CE-F9FD-4E86-8EDA-7E0E80F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推荐“运营商安全底座 + 终端端侧识别 + AI可插拔模型 + 权威处置”的联合模式。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02D32-4FA0-4339-9D37-9C5B812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937DA-3587-4FF0-BA9B-3A23E9F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2590800" cy="3714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1F0E5-564B-4391-8496-AE27629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运营商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7CE70-B317-4BA7-A8C4-C5EF4FAA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65E7E-8D48-4DBD-A81A-B99F8E57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E987A-C0C9-46EC-A002-2031F847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真实主叫与网侧风险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CD0F5-CA49-4624-A39B-1F4A52AE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8BE1C-3D51-4BDC-BE68-7983D6F7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统一授权与跨品牌触达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96017-B7F2-43ED-8A95-A8675F2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F27B7-9A92-40E5-9E32-62B01CBB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客服、计费与警企接口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A23F2-9D33-4299-A2CB-1EA7966B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314450"/>
            <a:ext cx="2590800" cy="3714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E8F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AE3D3-7D69-4550-8C08-B426096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7A62"/>
                </a:solidFill>
              </a:defRPr>
            </a:pPr>
            <a:r>
              <a:rPr sz="1800" b="1">
                <a:solidFill>
                  <a:srgbClr val="277A62"/>
                </a:solidFill>
              </a:rPr>
              <a:t>终端 / 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DDD31-34D0-49E6-9932-C7B7A41D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288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A62"/>
          </a:solidFill>
          <a:ln xmlns:a="http://schemas.openxmlformats.org/drawingml/2006/main" w="0">
            <a:solidFill>
              <a:srgbClr val="277A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D2C26-B0AD-4E5D-9B37-E92D8918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62"/>
                </a:solidFill>
              </a:defRPr>
            </a:pPr>
            <a:r>
              <a:rPr sz="1200" b="1">
                <a:solidFill>
                  <a:srgbClr val="277A62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F0480-22A8-4B0A-8F61-BD416E47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47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端侧采音与ASR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40903-FA39-4088-A2E0-125CCBA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62"/>
                </a:solidFill>
              </a:defRPr>
            </a:pPr>
            <a:r>
              <a:rPr sz="1200" b="1">
                <a:solidFill>
                  <a:srgbClr val="277A62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75821-E26B-475F-8063-8BB45BB5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718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低时延语义识别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81096-F56B-4DAC-A036-4F86AC2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7A62"/>
                </a:solidFill>
              </a:defRPr>
            </a:pPr>
            <a:r>
              <a:rPr sz="1200" b="1">
                <a:solidFill>
                  <a:srgbClr val="277A62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3D955-5D00-4FD9-9F49-C64107D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957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弹窗、震动与本地摘要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42345-954E-4F7B-8749-5EE3352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14450"/>
            <a:ext cx="2590800" cy="3714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23B36-1F01-4BEA-88DE-F19151C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6613"/>
                </a:solidFill>
              </a:defRPr>
            </a:pPr>
            <a:r>
              <a:rPr sz="1800" b="1">
                <a:solidFill>
                  <a:srgbClr val="A96613"/>
                </a:solidFill>
              </a:rPr>
              <a:t>AI 企业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39A0F-7386-483C-938C-780DD23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288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613"/>
          </a:solidFill>
          <a:ln xmlns:a="http://schemas.openxmlformats.org/drawingml/2006/main" w="0">
            <a:solidFill>
              <a:srgbClr val="A9661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8DFE3-1AB2-43CB-86C7-2FEDD3E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6613"/>
                </a:solidFill>
              </a:defRPr>
            </a:pPr>
            <a:r>
              <a:rPr sz="1200" b="1">
                <a:solidFill>
                  <a:srgbClr val="A96613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A50B3-8519-40BA-BEB9-160D03F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诈骗意图模型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5D5E8-AD12-4FCC-9B07-E36F273D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6613"/>
                </a:solidFill>
              </a:defRPr>
            </a:pPr>
            <a:r>
              <a:rPr sz="1200" b="1">
                <a:solidFill>
                  <a:srgbClr val="A96613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DC286-1278-41A5-8D99-F536475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模型压缩与评测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4B89C8-96B1-4551-A3DD-1BFE74A7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6613"/>
                </a:solidFill>
              </a:defRPr>
            </a:pPr>
            <a:r>
              <a:rPr sz="1200" b="1">
                <a:solidFill>
                  <a:srgbClr val="A96613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5BEE68-6A07-4D2C-8302-A59A85CF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可插拔、可替换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50EF9-2C4D-4083-A8FB-477190E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14450"/>
            <a:ext cx="2590800" cy="3714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BEA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48976-52A7-4AF8-A840-08E17EA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4040"/>
                </a:solidFill>
              </a:defRPr>
            </a:pPr>
            <a:r>
              <a:rPr sz="1800" b="1">
                <a:solidFill>
                  <a:srgbClr val="C64040"/>
                </a:solidFill>
              </a:rPr>
              <a:t>公安 / 金融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369EF9-1004-409F-A190-35D1E9DA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C193F-5001-4B81-9B4D-05AF5161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040"/>
                </a:solidFill>
              </a:defRPr>
            </a:pPr>
            <a:r>
              <a:rPr sz="1200" b="1">
                <a:solidFill>
                  <a:srgbClr val="C64040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C366A3-1358-4B53-BCB7-5636F09E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权威样本与核验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898A5B-0FAE-4968-BF0A-15755A8B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040"/>
                </a:solidFill>
              </a:defRPr>
            </a:pPr>
            <a:r>
              <a:rPr sz="1200" b="1">
                <a:solidFill>
                  <a:srgbClr val="C64040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1D963D-B853-4368-B13A-BF2F1B9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预警劝阻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50DFF-6837-494E-8ED8-AB0DA2F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52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4040"/>
                </a:solidFill>
              </a:defRPr>
            </a:pPr>
            <a:r>
              <a:rPr sz="1200" b="1">
                <a:solidFill>
                  <a:srgbClr val="C64040"/>
                </a:solidFill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883BA9-808C-45FC-AD7D-0BBAE791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法定止付与处置</a:t>
            </a:r>
          </a:p>
        </p:txBody>
      </p:sp>
    </p:spTree>
    <p:extLst>
      <p:ext uri="{BB962C8B-B14F-4D97-AF65-F5344CB8AC3E}">
        <p14:creationId xmlns:p14="http://schemas.microsoft.com/office/powerpoint/2010/main" val="211902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-6">
            <a:extLst xmlns:a="http://schemas.openxmlformats.org/drawingml/2006/main">
              <a:ext uri="{FF2B5EF4-FFF2-40B4-BE49-F238E27FC236}">
                <a16:creationId xmlns:a16="http://schemas.microsoft.com/office/drawing/2014/main" id="{DAA8B052-288C-4EC4-8CD3-BE6BDBA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产品闭环：从通话语义识别到授权家庭介入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674B5-E79B-4C6C-8E7D-E0C1C6A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5486D-34F4-4FE7-8AF0-D34817B0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来源：方案设计</a:t>
            </a:r>
          </a:p>
        </p:txBody>
      </p:sp>
      <p:sp>
        <p:nvSpPr>
          <p:cNvPr id="4" name="conclusion-bg-6">
            <a:extLst xmlns:a="http://schemas.openxmlformats.org/drawingml/2006/main">
              <a:ext uri="{FF2B5EF4-FFF2-40B4-BE49-F238E27FC236}">
                <a16:creationId xmlns:a16="http://schemas.microsoft.com/office/drawing/2014/main" id="{BBECD86E-C488-4CFF-898A-4B1E92E1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3D62-9060-4B32-8F36-750442A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6">
            <a:extLst xmlns:a="http://schemas.openxmlformats.org/drawingml/2006/main">
              <a:ext uri="{FF2B5EF4-FFF2-40B4-BE49-F238E27FC236}">
                <a16:creationId xmlns:a16="http://schemas.microsoft.com/office/drawing/2014/main" id="{BA213609-6333-4202-93F9-A60A60F7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完整价值链是“识别意图—提醒本人—授权通知家人—连接权威劝阻”，不是单一摘要功能。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944C7-D54F-4F56-82E7-4B71E45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7F699-56C2-4BCD-9E4D-E8F1B39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000250" cy="22669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48390-DE28-4AC0-9F94-753E3B0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98E9C-E82D-464B-9542-A7F4A63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通话感知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32B1B-849C-4BE9-ACA8-BE7CD20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端侧转写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语义识别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A6EC3-949F-4A81-AB54-B25F0AF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19375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</a:defRPr>
            </a:pPr>
            <a:r>
              <a:rPr sz="21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9EA1F-28BF-44EC-8CAA-C468CC77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790700"/>
            <a:ext cx="2000250" cy="22669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3750C-5160-44FF-A895-82D7429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71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D888D-F3D6-4ED1-938D-EC538849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00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联合评分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FEBB5-FFB5-4813-9B76-71E325D1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003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敏感词+意图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+网侧信号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B65C4-3DC5-4B09-8E11-5E5D16B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19375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</a:defRPr>
            </a:pPr>
            <a:r>
              <a:rPr sz="21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4285-0CE0-46BC-9FB1-E61960E5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2000250" cy="22669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9D81E-3B10-43BB-A42A-D8C10D3C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71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A8591-BD46-46A0-A929-FADF398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本人提醒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7A21E-7CED-43FD-9234-2BFB17DC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03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中风险核验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高风险停止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69E93-D043-4F8C-A691-1878A4E5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19375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</a:defRPr>
            </a:pPr>
            <a:r>
              <a:rPr sz="21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033E5-A1D7-4F6C-9F25-856EF81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90700"/>
            <a:ext cx="2000250" cy="22669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0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EAB87-7C8E-4CD2-AC3C-28E4EBA4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71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4040"/>
                </a:solidFill>
              </a:defRPr>
            </a:pPr>
            <a:r>
              <a:rPr sz="1275" b="1">
                <a:solidFill>
                  <a:srgbClr val="C64040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FC316-E769-431F-960D-D59CE74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00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家庭联防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CE00C-3B7E-4857-B172-92B4CEB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003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最小化通知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联系人回拨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BF93A-835B-4766-8771-40CCF2A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</a:defRPr>
            </a:pPr>
            <a:r>
              <a:rPr sz="21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4C45E-E127-43A7-93B5-27E614A0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00250" cy="22669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FCAD9-0397-4FEC-9CA8-14A2B10D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71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2DF73-D3C5-4E6C-9B6A-81B4367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0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摘要处置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DC28E-A552-4E0E-B832-F45D910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端侧摘要</a:t>
            </a:r>
          </a:p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连接权威渠道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AF77BE-CEB0-447F-8B1A-F56C7C5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E8F5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52A31-E2CB-431D-9AA8-AFF1768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7A62"/>
                </a:solidFill>
              </a:defRPr>
            </a:pPr>
            <a:r>
              <a:rPr sz="975" b="1">
                <a:solidFill>
                  <a:srgbClr val="277A62"/>
                </a:solidFill>
              </a:rPr>
              <a:t>低风险：仅摘要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B433F-C671-4D86-96E3-57045A2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551B9E-B8A6-43CD-B0AC-19E9C145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613"/>
                </a:solidFill>
              </a:defRPr>
            </a:pPr>
            <a:r>
              <a:rPr sz="975" b="1">
                <a:solidFill>
                  <a:srgbClr val="A96613"/>
                </a:solidFill>
              </a:rPr>
              <a:t>中风险：提醒本人核验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60EEC8-4DCE-449D-916B-8512EEC6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762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FBEA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B7A619-F53D-47F9-943F-5619627D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4040"/>
                </a:solidFill>
              </a:defRPr>
            </a:pPr>
            <a:r>
              <a:rPr sz="975" b="1">
                <a:solidFill>
                  <a:srgbClr val="C64040"/>
                </a:solidFill>
              </a:rPr>
              <a:t>高风险：本人+授权联系人</a:t>
            </a:r>
          </a:p>
        </p:txBody>
      </p:sp>
    </p:spTree>
    <p:extLst>
      <p:ext uri="{BB962C8B-B14F-4D97-AF65-F5344CB8AC3E}">
        <p14:creationId xmlns:p14="http://schemas.microsoft.com/office/powerpoint/2010/main" val="252081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7">
            <a:extLst xmlns:a="http://schemas.openxmlformats.org/drawingml/2006/main">
              <a:ext uri="{FF2B5EF4-FFF2-40B4-BE49-F238E27FC236}">
                <a16:creationId xmlns:a16="http://schemas.microsoft.com/office/drawing/2014/main" id="{416FB3FF-D959-4333-A800-DE541602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技术路线：端侧优先、网侧增强、原始音频默认不上云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DD6DF-4D89-40A2-B074-3D2C41B9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C3F71-9748-4CBA-A94E-2E0E1A24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来源：个人信息保护法、电信条例、Android/Apple权限规则</a:t>
            </a:r>
          </a:p>
        </p:txBody>
      </p:sp>
      <p:sp>
        <p:nvSpPr>
          <p:cNvPr id="4" name="conclusion-bg-7">
            <a:extLst xmlns:a="http://schemas.openxmlformats.org/drawingml/2006/main">
              <a:ext uri="{FF2B5EF4-FFF2-40B4-BE49-F238E27FC236}">
                <a16:creationId xmlns:a16="http://schemas.microsoft.com/office/drawing/2014/main" id="{CCB3BF40-9E3C-4DD9-A9BD-8B622BB4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6D2DD-781E-4F39-BC2A-80B7B8EC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7">
            <a:extLst xmlns:a="http://schemas.openxmlformats.org/drawingml/2006/main">
              <a:ext uri="{FF2B5EF4-FFF2-40B4-BE49-F238E27FC236}">
                <a16:creationId xmlns:a16="http://schemas.microsoft.com/office/drawing/2014/main" id="{28F73E60-A3FF-47F8-9F49-D939F91E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网络侧全量语音监听不是默认方案；若合法基础不明确，应直接No-Go。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1EBB5-4AC6-4D5E-B632-08D3D39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7375F-66EB-47BB-B531-74EEF4E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96617-FBE2-4AB1-AA24-67071D6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8B3B4-0138-4F5F-9297-2D5DF5B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486B3-D003-4DED-9C91-17C2199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6C440-9981-4320-A3A6-B5D31AD7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2857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277A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AAA37-2A0B-442B-96F0-2A14942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7A62"/>
                </a:solidFill>
              </a:defRPr>
            </a:pPr>
            <a:r>
              <a:rPr sz="1725" b="1">
                <a:solidFill>
                  <a:srgbClr val="277A62"/>
                </a:solidFill>
              </a:rPr>
              <a:t>终端 / 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65C3D-8663-40E0-BB3F-3A218D7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音频瞬时处理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ASR与语义识别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本机提醒与端侧摘要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9C738-E32E-4C9D-9AF1-FA742CB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47800"/>
            <a:ext cx="2857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7D512-F86F-4CA4-A8FA-F10A0575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运营商网络侧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44410-0E31-49C1-B8F8-7658CDD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真实主叫与国际路由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异常频次与号码风险</a:t>
            </a:r>
          </a:p>
          <a:p xmlns:a="http://schemas.openxmlformats.org/drawingml/2006/main">
            <a:pPr algn="l">
              <a:defRPr sz="1350" b="0">
                <a:solidFill>
                  <a:srgbClr val="14213D"/>
                </a:solidFill>
              </a:defRPr>
            </a:pPr>
            <a:r>
              <a:rPr sz="1350" b="0">
                <a:solidFill>
                  <a:srgbClr val="14213D"/>
                </a:solidFill>
              </a:rPr>
              <a:t>• 短信/闪信/AI外呼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22B8C-BE6D-4669-B4FE-A61CCB9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90700"/>
            <a:ext cx="49911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59FD3-7243-4410-BB63-1FC20FF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最小化风险特征融合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80770-4A85-4B88-9203-9538761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规则 + 语义意图 + 网络信号 + 上下文置信度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322E7-390B-4B4B-82C8-22EB53CF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20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A9661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202AB-A467-42E7-A33C-9335570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8142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6613"/>
                </a:solidFill>
              </a:defRPr>
            </a:pPr>
            <a:r>
              <a:rPr sz="1650" b="1">
                <a:solidFill>
                  <a:srgbClr val="A96613"/>
                </a:solidFill>
              </a:rPr>
              <a:t>联合风险评分与分级策略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67332-27DB-4FDA-96E4-DFAA2C28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0125"/>
            <a:ext cx="4076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0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688C0-C949-4037-9F64-299FFE8C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64040"/>
                </a:solidFill>
              </a:defRPr>
            </a:pPr>
            <a:r>
              <a:rPr sz="1500" b="1">
                <a:solidFill>
                  <a:srgbClr val="C64040"/>
                </a:solidFill>
              </a:rPr>
              <a:t>授权后跨品牌触达与处置编排</a:t>
            </a:r>
          </a:p>
        </p:txBody>
      </p:sp>
    </p:spTree>
    <p:extLst>
      <p:ext uri="{BB962C8B-B14F-4D97-AF65-F5344CB8AC3E}">
        <p14:creationId xmlns:p14="http://schemas.microsoft.com/office/powerpoint/2010/main" val="1004336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8">
            <a:extLst xmlns:a="http://schemas.openxmlformats.org/drawingml/2006/main">
              <a:ext uri="{FF2B5EF4-FFF2-40B4-BE49-F238E27FC236}">
                <a16:creationId xmlns:a16="http://schemas.microsoft.com/office/drawing/2014/main" id="{F96FADF1-3852-4A0C-B4AF-77356CA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市场价值必须用可验证漏斗测算，不能用18.27亿号码直接乘价格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A158D-5EA2-4685-ACBB-8F9AD32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AF0E0-4575-419C-82AB-3850A49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来源：工信部2025年通信业统计公报；公式为项目测算建议</a:t>
            </a:r>
          </a:p>
        </p:txBody>
      </p:sp>
      <p:sp>
        <p:nvSpPr>
          <p:cNvPr id="4" name="conclusion-bg-8">
            <a:extLst xmlns:a="http://schemas.openxmlformats.org/drawingml/2006/main">
              <a:ext uri="{FF2B5EF4-FFF2-40B4-BE49-F238E27FC236}">
                <a16:creationId xmlns:a16="http://schemas.microsoft.com/office/drawing/2014/main" id="{68725ECF-1F13-4871-BEC6-E0E20412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89CFD-F12B-4D04-AC52-81A0DA1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8">
            <a:extLst xmlns:a="http://schemas.openxmlformats.org/drawingml/2006/main">
              <a:ext uri="{FF2B5EF4-FFF2-40B4-BE49-F238E27FC236}">
                <a16:creationId xmlns:a16="http://schemas.microsoft.com/office/drawing/2014/main" id="{C2F4E9AB-27BF-4911-91F7-6DABCCB6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立项前必须补齐存量终端覆盖、授权率、真实诈骗基率、付费转化和单位成本。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09268-7585-481F-A847-6DA69C3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E4F26-1898-4175-B21F-C18A8D88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04925"/>
            <a:ext cx="10287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47D5D-1F10-49BC-90AF-5AF4DE2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3827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FF"/>
                </a:solidFill>
              </a:defRPr>
            </a:pPr>
            <a:r>
              <a:rPr sz="2100" b="1">
                <a:solidFill>
                  <a:srgbClr val="2F6BFF"/>
                </a:solidFill>
              </a:rPr>
              <a:t>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EF100-1145-4106-A6B8-EBBD6E79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76375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去重自然人用户 × 合规可开通率 × 兼容率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A240F-FEDD-405A-B65A-7FDB58CF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47925"/>
            <a:ext cx="79057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277A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FDB71-4414-4F79-BD6B-4C980D3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8127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7A62"/>
                </a:solidFill>
              </a:defRPr>
            </a:pPr>
            <a:r>
              <a:rPr sz="2100" b="1">
                <a:solidFill>
                  <a:srgbClr val="277A62"/>
                </a:solidFill>
              </a:rPr>
              <a:t>SAM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C78DF-8C80-4954-97AC-316F031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TAM × 目标客群 × 授权率 × 产品可用率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ABD1F-1CAF-4EAF-B4EC-7D9F66DD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5524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A966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813DD-D28F-4756-A25C-C7B52630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6613"/>
                </a:solidFill>
              </a:defRPr>
            </a:pPr>
            <a:r>
              <a:rPr sz="2100" b="1">
                <a:solidFill>
                  <a:srgbClr val="A96613"/>
                </a:solidFill>
              </a:rPr>
              <a:t>SOM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9361D-0E81-4863-8D38-AB11F58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SAM × 触达 × 开通 × 留存 × 付费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5A7ED-19DB-4F3C-A6E3-1DD4081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4040"/>
                </a:solidFill>
              </a:defRPr>
            </a:pPr>
            <a:r>
              <a:rPr sz="1500" b="1">
                <a:solidFill>
                  <a:srgbClr val="C64040"/>
                </a:solidFill>
              </a:rPr>
              <a:t>必须实测的五组参数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759D5-E4EF-443A-B7A4-D19D35F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96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7CBB6-3E04-4313-AB76-A0869D8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BBD52-DFE8-4673-BEAA-8C8D262E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466D8-AB31-4FCA-8346-9E95908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38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风险基率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8C720-90ED-4B75-839E-AD41F23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81AF4-0452-490E-823F-5CE42A84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产品漏斗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FCCF3-DDF5-4BC7-A539-EBA13E1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A7391-672E-4531-BAC8-5259118F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模型效果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DD8B4-FF57-4C88-99A0-07467B2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1965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7D426-1155-4F30-81F1-CEC02BE4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387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B67"/>
                </a:solidFill>
              </a:defRPr>
            </a:pPr>
            <a:r>
              <a:rPr sz="975" b="1">
                <a:solidFill>
                  <a:srgbClr val="173B67"/>
                </a:solidFill>
              </a:rPr>
              <a:t>收入与成本</a:t>
            </a:r>
          </a:p>
        </p:txBody>
      </p:sp>
    </p:spTree>
    <p:extLst>
      <p:ext uri="{BB962C8B-B14F-4D97-AF65-F5344CB8AC3E}">
        <p14:creationId xmlns:p14="http://schemas.microsoft.com/office/powerpoint/2010/main" val="5413432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9">
            <a:extLst xmlns:a="http://schemas.openxmlformats.org/drawingml/2006/main">
              <a:ext uri="{FF2B5EF4-FFF2-40B4-BE49-F238E27FC236}">
                <a16:creationId xmlns:a16="http://schemas.microsoft.com/office/drawing/2014/main" id="{D5B9605C-8D1E-4542-9A14-785F49EC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商业化应围绕增值体验，而不是把基础反诈义务收费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BF380-9A9D-49B2-9F66-622A848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05DF0-D564-46BA-A008-3FD2AAC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来源：商业模式建议，需试点验证</a:t>
            </a:r>
          </a:p>
        </p:txBody>
      </p:sp>
      <p:sp>
        <p:nvSpPr>
          <p:cNvPr id="4" name="conclusion-bg-9">
            <a:extLst xmlns:a="http://schemas.openxmlformats.org/drawingml/2006/main">
              <a:ext uri="{FF2B5EF4-FFF2-40B4-BE49-F238E27FC236}">
                <a16:creationId xmlns:a16="http://schemas.microsoft.com/office/drawing/2014/main" id="{315E0905-8576-49D1-B753-31F66586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14D6-6B44-4CD7-9E78-1D14A48F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9">
            <a:extLst xmlns:a="http://schemas.openxmlformats.org/drawingml/2006/main">
              <a:ext uri="{FF2B5EF4-FFF2-40B4-BE49-F238E27FC236}">
                <a16:creationId xmlns:a16="http://schemas.microsoft.com/office/drawing/2014/main" id="{7BC12F7C-FB34-4E2B-8658-1CD9BF71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推荐“基础提醒免费 + 家庭守护增值 + B2B2C补贴”的组合模式。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1F4CB-5535-4B30-8724-8B85C60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95300" y="1257300"/>
          <a:ext xmlns:a="http://schemas.openxmlformats.org/drawingml/2006/main" cx="11201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190750"/>
                <a:gridCol w="3905250"/>
                <a:gridCol w="329565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付费方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可收费能力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关键风险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家庭守护包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个人/家庭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多联系人、摘要、风险看板、人工服务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个人付费意愿不确定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B2B2C权益包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银行/保险/养老机构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客户安全权益、API、合规报告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禁止反诈数据交叉营销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政企安全套餐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金融/物流/招聘企业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高频陌生通话岗位保护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员工隐私边界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</a:rPr>
                        <a:t>终端联合会员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运营商+OEM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安全底座与端侧体验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4213D"/>
                          </a:solidFill>
                        </a:rPr>
                        <a:t>分成与责任划分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07E32-3B47-4A7D-B7CA-4152CFB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91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34B5B-FD1F-4704-9143-ACB98D82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4040"/>
                </a:solidFill>
              </a:defRPr>
            </a:pPr>
            <a:r>
              <a:rPr sz="1425" b="1">
                <a:solidFill>
                  <a:srgbClr val="C64040"/>
                </a:solidFill>
              </a:rPr>
              <a:t>单位经济性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BEF62-6234-4E58-BAFF-868F983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48225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月贡献毛利 = ARPPU − 模型成本 − 触达成本 − 客服复核 − 安全审计 − 渠道分成</a:t>
            </a:r>
          </a:p>
        </p:txBody>
      </p:sp>
    </p:spTree>
    <p:extLst>
      <p:ext uri="{BB962C8B-B14F-4D97-AF65-F5344CB8AC3E}">
        <p14:creationId xmlns:p14="http://schemas.microsoft.com/office/powerpoint/2010/main" val="716424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69474050-5798-47DE-A379-0E107D5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四类门槛决定项目是否继续：覆盖、合规、效果、经济性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96ADF-D6B3-4684-92D3-138E4619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873D8-A3ED-499B-AE06-24FCADC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来源：阈值为项目治理建议，不是行业标准</a:t>
            </a:r>
          </a:p>
        </p:txBody>
      </p:sp>
      <p:sp>
        <p:nvSpPr>
          <p:cNvPr id="4" name="conclusion-bg-10">
            <a:extLst xmlns:a="http://schemas.openxmlformats.org/drawingml/2006/main">
              <a:ext uri="{FF2B5EF4-FFF2-40B4-BE49-F238E27FC236}">
                <a16:creationId xmlns:a16="http://schemas.microsoft.com/office/drawing/2014/main" id="{46CD9FE4-90B5-439D-8B71-EC0F4B7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27871-2DA7-410C-972B-0BA4BAD8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10">
            <a:extLst xmlns:a="http://schemas.openxmlformats.org/drawingml/2006/main">
              <a:ext uri="{FF2B5EF4-FFF2-40B4-BE49-F238E27FC236}">
                <a16:creationId xmlns:a16="http://schemas.microsoft.com/office/drawing/2014/main" id="{A15C5BD1-42C3-4C4B-A396-94A5E84C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项目成功不是提醒次数多，而是经核验的有效干预增加、损失降低且成本可持续。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3486B-B03C-4031-ADAC-549758D6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10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276350"/>
          <a:ext xmlns:a="http://schemas.openxmlformats.org/drawingml/2006/main" cx="11049000" cy="3867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667250"/>
                <a:gridCol w="4667250"/>
              </a:tblGrid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门槛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继续条件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No-Go条件</a:t>
                      </a:r>
                    </a:p>
                  </a:txBody>
                  <a:tcPr marL="91440" marR="91440" marT="45720" marB="45720">
                    <a:solidFill>
                      <a:srgbClr val="14213D"/>
                    </a:solidFill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B67"/>
                          </a:solidFill>
                        </a:rPr>
                        <a:t>覆盖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77A62"/>
                          </a:solidFill>
                        </a:rPr>
                        <a:t>目标用户存在显著功能缺口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4040"/>
                          </a:solidFill>
                        </a:rPr>
                        <a:t>完整终端能力已覆盖≥90%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B67"/>
                          </a:solidFill>
                        </a:rPr>
                        <a:t>合规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77A62"/>
                          </a:solidFill>
                        </a:rPr>
                        <a:t>合法基础明确；单独授权；可撤回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4040"/>
                          </a:solidFill>
                        </a:rPr>
                        <a:t>网络侧通话处理依据不明确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B67"/>
                          </a:solidFill>
                        </a:rPr>
                        <a:t>效果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77A62"/>
                          </a:solidFill>
                        </a:rPr>
                        <a:t>召回≥90%；高敏误报≤0.1%；PPV≥50%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4040"/>
                          </a:solidFill>
                        </a:rPr>
                        <a:t>运营商方案无显著增量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B67"/>
                          </a:solidFill>
                        </a:rPr>
                        <a:t>经济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77A62"/>
                          </a:solidFill>
                        </a:rPr>
                        <a:t>贡献毛利为正；回收期达标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4040"/>
                          </a:solidFill>
                        </a:rPr>
                        <a:t>单位成本高于可量化收益</a:t>
                      </a:r>
                    </a:p>
                  </a:txBody>
                  <a:tcPr marL="91440" marR="91440" marT="45720" marB="45720"/>
                </a:tc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73B67"/>
                          </a:solidFill>
                        </a:rPr>
                        <a:t>安全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77A62"/>
                          </a:solidFill>
                        </a:rPr>
                        <a:t>原始音频默认不上云；重大事件为0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64040"/>
                          </a:solidFill>
                        </a:rPr>
                        <a:t>发生重大数据安全事件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700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11">
            <a:extLst xmlns:a="http://schemas.openxmlformats.org/drawingml/2006/main">
              <a:ext uri="{FF2B5EF4-FFF2-40B4-BE49-F238E27FC236}">
                <a16:creationId xmlns:a16="http://schemas.microsoft.com/office/drawing/2014/main" id="{EC6525FE-1407-43A2-8EBE-02C1043B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12周试点用三步验证必要性，而不是直接上线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14B48-C076-4616-BCAA-AE0800E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21CA9-9C48-4978-ABA1-FFC051E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43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来源：试点方法建议</a:t>
            </a:r>
          </a:p>
        </p:txBody>
      </p:sp>
      <p:sp>
        <p:nvSpPr>
          <p:cNvPr id="4" name="conclusion-bg-11">
            <a:extLst xmlns:a="http://schemas.openxmlformats.org/drawingml/2006/main">
              <a:ext uri="{FF2B5EF4-FFF2-40B4-BE49-F238E27FC236}">
                <a16:creationId xmlns:a16="http://schemas.microsoft.com/office/drawing/2014/main" id="{0C784460-EF94-4CBD-9799-84CF63FE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0467-21B6-4C00-AB54-81270EE1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6" name="conclusion-11">
            <a:extLst xmlns:a="http://schemas.openxmlformats.org/drawingml/2006/main">
              <a:ext uri="{FF2B5EF4-FFF2-40B4-BE49-F238E27FC236}">
                <a16:creationId xmlns:a16="http://schemas.microsoft.com/office/drawing/2014/main" id="{B0B4FEF7-EF70-4B0B-BC06-0176564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若影子模式PPV低于20%，或运营商方案对端侧方案无显著增量，应停止进入外显提醒。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2B4CE-F2DD-43F3-AB9A-87E2CEC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28A21-CBBC-4ABB-B9C6-544F68B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957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3FDDF-BADF-4DCF-B2D9-A44FBFB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143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897CF-56C1-4213-BBB3-4F8D7B8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1—4周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37CCE-CA75-4B94-9C45-994AF660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81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离线红队评测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90CCD-608F-4E3A-AA94-7DFF29E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诈骗+合法高敏通话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方言/噪声/隐语/AI变声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0C7A4-A43A-45D7-9534-F5B6956E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8132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81CD2-33F6-40A1-91D2-497D1FC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A2729-467B-464A-9C9A-5C51965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3143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A966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4644E-DB31-42D9-852D-0657B798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6613"/>
                </a:solidFill>
              </a:defRPr>
            </a:pPr>
            <a:r>
              <a:rPr sz="1275" b="1">
                <a:solidFill>
                  <a:srgbClr val="A96613"/>
                </a:solidFill>
              </a:rPr>
              <a:t>5—8周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DDC9A-BB3C-4D33-A03B-30605B62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81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影子模式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BBE68-1315-4B02-81C8-C12E0DA0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1万—5万授权用户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只评分、不提醒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5EF58-0782-41FB-A11D-AFF8BCAC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8132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2FF37-03B2-4EC9-8E16-1F9C136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21EEC-BE5A-4975-9B54-FD5646C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85900"/>
            <a:ext cx="3143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277A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4C60F-2CA2-461F-A60E-7B6D2F9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A62"/>
                </a:solidFill>
              </a:defRPr>
            </a:pPr>
            <a:r>
              <a:rPr sz="1275" b="1">
                <a:solidFill>
                  <a:srgbClr val="277A62"/>
                </a:solidFill>
              </a:rPr>
              <a:t>9—12周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D6130-B8FE-4775-8589-576447E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81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三组对照实验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603F9-5CE0-4C6F-93E7-E6A567C2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号码提醒 vs 端侧语义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vs 家庭联防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C2053-2AFE-48C5-8B94-1D46A4CC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81325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BC1DE-611E-4DA5-AB3F-553797DF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6D6B4-E320-47D2-9ED5-D35607F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63679-FA0B-4CA9-969E-C03FFD1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76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Gate 1：数据可分离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8D2BD1-4115-431B-A266-68BB6FC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FF3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1184D-5E08-4CEF-8346-6A25DC8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76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6613"/>
                </a:solidFill>
              </a:defRPr>
            </a:pPr>
            <a:r>
              <a:rPr sz="975" b="1">
                <a:solidFill>
                  <a:srgbClr val="A96613"/>
                </a:solidFill>
              </a:rPr>
              <a:t>Gate 2：PPV ≥20%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BCDA5-B795-4970-A31D-1E93DDEF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E8F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60EDB-D5C1-4F6F-9D64-84DC89B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7667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7A62"/>
                </a:solidFill>
              </a:defRPr>
            </a:pPr>
            <a:r>
              <a:rPr sz="975" b="1">
                <a:solidFill>
                  <a:srgbClr val="277A62"/>
                </a:solidFill>
              </a:rPr>
              <a:t>Gate 3：增量显著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84481-8B02-447D-B269-E790CC2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北极星指标：每万名授权用户中，经核验的有效风险干预数</a:t>
            </a:r>
          </a:p>
        </p:txBody>
      </p:sp>
    </p:spTree>
    <p:extLst>
      <p:ext uri="{BB962C8B-B14F-4D97-AF65-F5344CB8AC3E}">
        <p14:creationId xmlns:p14="http://schemas.microsoft.com/office/powerpoint/2010/main" val="10995480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12">
            <a:extLst xmlns:a="http://schemas.openxmlformats.org/drawingml/2006/main">
              <a:ext uri="{FF2B5EF4-FFF2-40B4-BE49-F238E27FC236}">
                <a16:creationId xmlns:a16="http://schemas.microsoft.com/office/drawing/2014/main" id="{B14E81BA-46BB-416F-A4F5-09EA09B0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建议批准有限试点，同时明确三项不做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43DB5-42A1-449A-8635-5C5FE4BB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conclusion-bg-12">
            <a:extLst xmlns:a="http://schemas.openxmlformats.org/drawingml/2006/main">
              <a:ext uri="{FF2B5EF4-FFF2-40B4-BE49-F238E27FC236}">
                <a16:creationId xmlns:a16="http://schemas.microsoft.com/office/drawing/2014/main" id="{B4EC8E83-DB09-4F3C-B203-492AC23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13538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F3DA1-1168-4572-BA69-233F980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040"/>
          </a:solidFill>
          <a:ln xmlns:a="http://schemas.openxmlformats.org/drawingml/2006/main" w="0">
            <a:solidFill>
              <a:srgbClr val="C64040"/>
            </a:solidFill>
            <a:prstDash val="solid"/>
          </a:ln>
        </p:spPr>
      </p:sp>
      <p:sp>
        <p:nvSpPr>
          <p:cNvPr id="5" name="conclusion-12">
            <a:extLst xmlns:a="http://schemas.openxmlformats.org/drawingml/2006/main">
              <a:ext uri="{FF2B5EF4-FFF2-40B4-BE49-F238E27FC236}">
                <a16:creationId xmlns:a16="http://schemas.microsoft.com/office/drawing/2014/main" id="{F78D4865-372A-459E-8B53-F576092D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</a:defRPr>
            </a:pPr>
            <a:r>
              <a:rPr sz="1275" b="1">
                <a:solidFill>
                  <a:srgbClr val="14213D"/>
                </a:solidFill>
              </a:rPr>
              <a:t>只有覆盖缺口、效果增量、合规基础和单位经济性同时成立，才进入规模化建设。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7508-2E9D-4E7D-B4D9-F156A91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43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CB8F2-476C-4484-9492-EC46C0A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5095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9525">
            <a:solidFill>
              <a:srgbClr val="277A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58AD9-D45B-47B4-B862-0AC68047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7A62"/>
                </a:solidFill>
              </a:defRPr>
            </a:pPr>
            <a:r>
              <a:rPr sz="1950" b="1">
                <a:solidFill>
                  <a:srgbClr val="277A62"/>
                </a:solidFill>
              </a:rPr>
              <a:t>批准验证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00B5D-0C3F-4452-986C-711BC51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A62"/>
                </a:solidFill>
              </a:defRPr>
            </a:pPr>
            <a:r>
              <a:rPr sz="1650" b="1">
                <a:solidFill>
                  <a:srgbClr val="277A62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4408B-1B55-46E9-9A3C-FA92A718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目标用户与终端覆盖盘点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402F1-A661-48A1-AFA5-D42AB859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A62"/>
                </a:solidFill>
              </a:defRPr>
            </a:pPr>
            <a:r>
              <a:rPr sz="1650" b="1">
                <a:solidFill>
                  <a:srgbClr val="277A62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F468E-DCAF-4B6E-8F05-713DE2EB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法律与隐私影响评估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15308-FF95-4008-83F6-F8E8373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A62"/>
                </a:solidFill>
              </a:defRPr>
            </a:pPr>
            <a:r>
              <a:rPr sz="1650" b="1">
                <a:solidFill>
                  <a:srgbClr val="277A62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B65C8-AFD9-4838-AC67-D87AF84F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端侧优先的联合验证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D3367-C391-4C35-B17C-5FA84EE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A62"/>
                </a:solidFill>
              </a:defRPr>
            </a:pPr>
            <a:r>
              <a:rPr sz="1650" b="1">
                <a:solidFill>
                  <a:srgbClr val="277A62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9DD64-28A7-4D54-8E36-0B568E2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影子模式与有限试点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2CCE5-DC9D-49A9-AE9D-D9515B81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285875"/>
            <a:ext cx="509587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0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C2B75-679E-42AB-A50F-9D51FEC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485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4040"/>
                </a:solidFill>
              </a:defRPr>
            </a:pPr>
            <a:r>
              <a:rPr sz="1950" b="1">
                <a:solidFill>
                  <a:srgbClr val="C64040"/>
                </a:solidFill>
              </a:rPr>
              <a:t>明确不做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634B4-2C14-4CA8-A953-0DF484D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52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4040"/>
                </a:solidFill>
              </a:defRPr>
            </a:pPr>
            <a:r>
              <a:rPr sz="1800" b="1">
                <a:solidFill>
                  <a:srgbClr val="C64040"/>
                </a:solidFill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49356-D807-4B01-9273-9313D06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网络侧全量监听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34C1F-BD9F-4B1B-B477-5EEE790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4040"/>
                </a:solidFill>
              </a:defRPr>
            </a:pPr>
            <a:r>
              <a:rPr sz="1800" b="1">
                <a:solidFill>
                  <a:srgbClr val="C64040"/>
                </a:solidFill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9B5B6-2504-4553-8119-F63AD09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241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原始音频长期保存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B868C-EE0F-4B56-B6C5-D1ACAE3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4040"/>
                </a:solidFill>
              </a:defRPr>
            </a:pPr>
            <a:r>
              <a:rPr sz="1800" b="1">
                <a:solidFill>
                  <a:srgbClr val="C64040"/>
                </a:solidFill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DB04C-36C3-41DF-BD9E-D454368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528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未经授权发送完整摘要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B008A-1645-4512-A849-90EF15F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38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4040"/>
                </a:solidFill>
              </a:defRPr>
            </a:pPr>
            <a:r>
              <a:rPr sz="1800" b="1">
                <a:solidFill>
                  <a:srgbClr val="C64040"/>
                </a:solidFill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97B12-F1CD-454E-8A85-87EEBBF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覆盖和经济性未知时全量投资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A3FCA-6B45-48E5-B97F-79A2E7B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24475"/>
            <a:ext cx="3771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4B60B-B372-4C3F-8DE6-99C03534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435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决策状态：Conditional Go</a:t>
            </a:r>
          </a:p>
        </p:txBody>
      </p:sp>
    </p:spTree>
    <p:extLst>
      <p:ext uri="{BB962C8B-B14F-4D97-AF65-F5344CB8AC3E}">
        <p14:creationId xmlns:p14="http://schemas.microsoft.com/office/powerpoint/2010/main" val="1514174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2026-07-23T08:57:40.4100000Z</dcterms:created>
  <dcterms:modified xsi:type="dcterms:W3CDTF">2026-07-23T08:57:40.4100000Z</dcterms:modified>
</coreProperties>
</file>